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【认知契约 / Cognitive Contract】</a:t>
            </a:r>
          </a:p>
          <a:p>
            <a:r>
              <a:t>• 核心主旨: 从单一认知对话全面迈向自主协同的 Agentic AI 企业级架构演进</a:t>
            </a:r>
          </a:p>
          <a:p>
            <a:r>
              <a:t>• 目标受众: CTO 及技术决策委员会 (关注落地可靠性、改造成本与人机交互确定性)</a:t>
            </a:r>
          </a:p>
          <a:p>
            <a:r>
              <a:t>• 认知差/痛点: 传统被动方案人工介入成本高达 80%, 固定规则 RPA 面对非结构化长尾场景极其脆弱</a:t>
            </a:r>
          </a:p>
          <a:p>
            <a:r>
              <a:t>• 目标行动(Act): 批准 Q2 试点破局阶段技术预研立项并分配专项研发资源</a:t>
            </a:r>
          </a:p>
          <a:p>
            <a:r>
              <a:t>------------------------------------</a:t>
            </a:r>
          </a:p>
          <a:p>
            <a:r>
              <a:t>【叙事阶段 / Arc】HOOK</a:t>
            </a:r>
          </a:p>
          <a:p>
            <a:r>
              <a:t>【单页使命 / Mission】确立核心主张，建立架构评审共识与预期成效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【叙事阶段 / Arc】CONFLICT</a:t>
            </a:r>
          </a:p>
          <a:p>
            <a:r>
              <a:t>【单页使命 / Mission】击穿听众对现有方案的侥幸心理，建立系统性重构的紧迫性</a:t>
            </a:r>
          </a:p>
          <a:p>
            <a:r>
              <a:t>【承上启下 / Transition】【冲突】然而现存的两大传统方案，在真实生产环境下均已触碰天花板</a:t>
            </a:r>
          </a:p>
          <a:p>
            <a:r>
              <a:t>【核心论据 / Evidence】传统方案人工介入成本高达 80%，而 Agentic 系统综合效率提升 400%+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【叙事阶段 / Arc】BREAKTHROUGH</a:t>
            </a:r>
          </a:p>
          <a:p>
            <a:r>
              <a:t>【单页使命 / Mission】给出根本解法，证明平台具备高可用、分层解耦与工具沙箱控制力</a:t>
            </a:r>
          </a:p>
          <a:p>
            <a:r>
              <a:t>【承上启下 / Transition】【突破】因此，我们必须构建‘交互-中枢-沙箱’三层闭环架构</a:t>
            </a:r>
          </a:p>
          <a:p>
            <a:r>
              <a:t>【核心论据 / Evidence】三层架构严格解耦，沙箱隔离保障企业级安全合规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【叙事阶段 / Arc】EVIDENCE</a:t>
            </a:r>
          </a:p>
          <a:p>
            <a:r>
              <a:t>【单页使命 / Mission】用压倒性量化硬核指标击溃疑虑，提供坚不可摧的商业成效背书</a:t>
            </a:r>
          </a:p>
          <a:p>
            <a:r>
              <a:t>【承上启下 / Transition】【实证】方案不仅理论自洽，更在全链路可观测指标上实现跨越式突破</a:t>
            </a:r>
          </a:p>
          <a:p>
            <a:r>
              <a:t>【核心论据 / Evidence】94.8% 自主完成率，&lt;8ms 毫秒级感知延迟，45s 极速综合交付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【叙事阶段 / Arc】PROGRESSION</a:t>
            </a:r>
          </a:p>
          <a:p>
            <a:r>
              <a:t>【单页使命 / Mission】给出低风险渐进式落地路径，打消听众对迁移风险的顾虑</a:t>
            </a:r>
          </a:p>
          <a:p>
            <a:r>
              <a:t>【承上启下 / Transition】【落地】为确保业务平滑过渡，推行‘试点-建设-推广-生态’四步走路线</a:t>
            </a:r>
          </a:p>
          <a:p>
            <a:r>
              <a:t>【核心论据 / Evidence】Q1 试点验证，Q2 平台就绪，Q3 规模推广，Q4 自主进化闭环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【叙事阶段 / Arc】CALL_TO_ACTION</a:t>
            </a:r>
          </a:p>
          <a:p>
            <a:r>
              <a:t>【单页使命 / Mission】发起明确行动号召，锁定立项决策与资源分配动作</a:t>
            </a:r>
          </a:p>
          <a:p>
            <a:r>
              <a:t>【承上启下 / Transition】【号召】万事俱备，建议立即启动第一阶段试点立项与研发协同</a:t>
            </a:r>
          </a:p>
          <a:p>
            <a:r>
              <a:t>【核心论据 / Evidence】信息充分性与认知契约已就绪，建议立即批准团队编制与算力配额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16459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961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 b="1">
                <a:solidFill>
                  <a:srgbClr val="2563EB"/>
                </a:solidFill>
                <a:latin typeface="PingFang SC, Inter, sans-serif"/>
              </a:rPr>
              <a:t>ENTERPRISE STRATEGY &amp; ARCHITECTURE 2026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0F172A"/>
                </a:solidFill>
                <a:latin typeface="PingFang SC, Inter, sans-serif"/>
              </a:rPr>
              <a:t>新一代企业级 Agentic AI 业务与架构全景方案</a:t>
            </a:r>
          </a:p>
          <a:p>
            <a:pPr>
              <a:spcAft>
                <a:spcPts val="2800"/>
              </a:spcAft>
            </a:pPr>
            <a:r>
              <a:rPr sz="2000">
                <a:solidFill>
                  <a:srgbClr val="475569"/>
                </a:solidFill>
                <a:latin typeface="PingFang SC, Inter, sans-serif"/>
              </a:rPr>
              <a:t>从单一认知对话到多智能体自主协同的工业化演进之路</a:t>
            </a:r>
          </a:p>
          <a:p>
            <a:r>
              <a:rPr sz="1300">
                <a:solidFill>
                  <a:srgbClr val="475569"/>
                </a:solidFill>
              </a:rPr>
              <a:t>undoPPT Super Skill 联合出品 · 架构评审专供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PingFang SC, Inter, sans-serif"/>
              </a:rPr>
              <a:t>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PingFang SC, Inter, sans-serif"/>
              </a:rPr>
              <a:t>痛点：传统被动方案与规则 RPA 难以支撑工业级自主闭环</a:t>
            </a:r>
          </a:p>
          <a:p>
            <a:r>
              <a:rPr sz="1800">
                <a:solidFill>
                  <a:srgbClr val="475569"/>
                </a:solidFill>
                <a:latin typeface="PingFang SC, Inter, sans-serif"/>
              </a:rPr>
              <a:t>打破单点工具局限，迈向具备长程规划与工具调用能力的自主智能体系统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53384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3124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75569"/>
                </a:solidFill>
              </a:rPr>
              <a:t>TRADITIONAL LLM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被动对话型方案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75569"/>
                </a:solidFill>
              </a:rPr>
              <a:t>以单轮或短程问答为主，缺乏环境感知与外部工具执行能力，无法闭环复杂业务。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200">
                <a:solidFill>
                  <a:srgbClr val="475569"/>
                </a:solidFill>
              </a:rPr>
              <a:t>单向文本输出为主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200">
                <a:solidFill>
                  <a:srgbClr val="475569"/>
                </a:solidFill>
              </a:rPr>
              <a:t>无状态上下文易丢失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200">
                <a:solidFill>
                  <a:srgbClr val="475569"/>
                </a:solidFill>
              </a:rPr>
              <a:t>人工介入成本高达 80%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784" y="1920240"/>
            <a:ext cx="3453384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2376" y="2103120"/>
            <a:ext cx="3124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75569"/>
                </a:solidFill>
              </a:rPr>
              <a:t>WORKFLOW RPA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固定规则编排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75569"/>
                </a:solidFill>
              </a:rPr>
              <a:t>严格依赖预设硬编码流程，面对不确定性与非结构化长尾场景极其脆弱。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200">
                <a:solidFill>
                  <a:srgbClr val="475569"/>
                </a:solidFill>
              </a:rPr>
              <a:t>维护成本高昂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200">
                <a:solidFill>
                  <a:srgbClr val="475569"/>
                </a:solidFill>
              </a:rPr>
              <a:t>对突发异常容错率为零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200">
                <a:solidFill>
                  <a:srgbClr val="475569"/>
                </a:solidFill>
              </a:rPr>
              <a:t>无法自主学习与演进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4048" y="1920240"/>
            <a:ext cx="3453384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8640" y="2103120"/>
            <a:ext cx="3124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</a:rPr>
              <a:t>AGENTIC SYSTEM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新一代自主协同集群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475569"/>
                </a:solidFill>
              </a:rPr>
              <a:t>基于动态意图推理、多子智能体拓扑与沙箱工具链，实现全自主端到端闭环交付。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200">
                <a:solidFill>
                  <a:srgbClr val="475569"/>
                </a:solidFill>
              </a:rPr>
              <a:t>动态规划与自我反思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200">
                <a:solidFill>
                  <a:srgbClr val="475569"/>
                </a:solidFill>
              </a:rPr>
              <a:t>毫秒级双向感知同步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200">
                <a:solidFill>
                  <a:srgbClr val="475569"/>
                </a:solidFill>
              </a:rPr>
              <a:t>综合效率提升 400%+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PingFang SC, Inter, sans-serif"/>
              </a:rPr>
              <a:t>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PingFang SC, Inter, sans-serif"/>
              </a:rPr>
              <a:t>方案：构建高可用、多租户、安全可信赖的智能体全生命周期中枢</a:t>
            </a:r>
          </a:p>
          <a:p>
            <a:r>
              <a:rPr sz="1800">
                <a:solidFill>
                  <a:srgbClr val="475569"/>
                </a:solidFill>
                <a:latin typeface="PingFang SC, Inter, sans-serif"/>
              </a:rPr>
              <a:t>构建高可用、多租户、安全可信赖的智能体全生命周期运行时中枢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5912" cy="13533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828800" cy="117043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2563EB"/>
                </a:solidFill>
              </a:rPr>
              <a:t>业务交互与场景层</a:t>
            </a:r>
          </a:p>
          <a:p>
            <a:pPr algn="ctr"/>
            <a:r>
              <a:rPr sz="1000">
                <a:solidFill>
                  <a:srgbClr val="475569"/>
                </a:solidFill>
              </a:rPr>
              <a:t>统一多模交互与接入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2029968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协同工作区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9180" y="2029968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企业微信/飞书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029968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OpenAPI 网关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12580" y="2029968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低代码控制台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10725912" cy="13533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529584"/>
            <a:ext cx="1828800" cy="117043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2563EB"/>
                </a:solidFill>
              </a:rPr>
              <a:t>智能体中枢调度层</a:t>
            </a:r>
          </a:p>
          <a:p>
            <a:pPr algn="ctr"/>
            <a:r>
              <a:rPr sz="1000">
                <a:solidFill>
                  <a:srgbClr val="475569"/>
                </a:solidFill>
              </a:rPr>
              <a:t>意图与长程规划核心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79" y="3547872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意图研判探针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9180" y="3547872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模板解析解构引擎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547872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协同感知哨兵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2580" y="3547872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质量规约审计员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56048"/>
            <a:ext cx="10725912" cy="13533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5047488"/>
            <a:ext cx="1828800" cy="117043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2563EB"/>
                </a:solidFill>
              </a:rPr>
              <a:t>工具底座与沙箱层</a:t>
            </a:r>
          </a:p>
          <a:p>
            <a:pPr algn="ctr"/>
            <a:r>
              <a:rPr sz="1000">
                <a:solidFill>
                  <a:srgbClr val="475569"/>
                </a:solidFill>
              </a:rPr>
              <a:t>安全受控执行环境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79" y="5065776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MCP 服务器集群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9180" y="5065776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Python 代码执行沙箱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5065776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向量知识库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2580" y="5065776"/>
            <a:ext cx="2061972" cy="112471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172A"/>
                </a:solidFill>
              </a:rPr>
              <a:t>模型网关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PingFang SC, Inter, sans-serif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PingFang SC, Inter, sans-serif"/>
              </a:rPr>
              <a:t>成效：端到端任务自主完成率突破 94.8%，工时缩减 90%</a:t>
            </a:r>
          </a:p>
          <a:p>
            <a:r>
              <a:rPr sz="1800">
                <a:solidFill>
                  <a:srgbClr val="475569"/>
                </a:solidFill>
                <a:latin typeface="PingFang SC, Inter, sans-serif"/>
              </a:rPr>
              <a:t>全链路数据可观测性与工业级商业成效交付衡量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3060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25628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475569"/>
                </a:solidFill>
              </a:rPr>
              <a:t>端到端自动化完成率</a:t>
            </a:r>
          </a:p>
          <a:p>
            <a:pPr>
              <a:spcAft>
                <a:spcPts val="600"/>
              </a:spcAft>
            </a:pPr>
            <a:r>
              <a:rPr sz="5200" b="1">
                <a:solidFill>
                  <a:srgbClr val="2563EB"/>
                </a:solidFill>
                <a:latin typeface="DIN Alternate, Arial, sans-serif"/>
              </a:rPr>
              <a:t>94.8%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10B981"/>
                </a:solidFill>
              </a:rPr>
              <a:t>▲ 38.2% 同比提升</a:t>
            </a:r>
          </a:p>
          <a:p>
            <a:r>
              <a:rPr sz="1200">
                <a:solidFill>
                  <a:srgbClr val="475569"/>
                </a:solidFill>
              </a:rPr>
              <a:t>长程复杂任务中自主规划与工具调用的无人工干预达成比率。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3290" y="2011680"/>
            <a:ext cx="253060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450" y="2286000"/>
            <a:ext cx="225628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475569"/>
                </a:solidFill>
              </a:rPr>
              <a:t>母版风格还原准确率</a:t>
            </a:r>
          </a:p>
          <a:p>
            <a:pPr>
              <a:spcAft>
                <a:spcPts val="600"/>
              </a:spcAft>
            </a:pPr>
            <a:r>
              <a:rPr sz="5200" b="1">
                <a:solidFill>
                  <a:srgbClr val="2563EB"/>
                </a:solidFill>
                <a:latin typeface="DIN Alternate, Arial, sans-serif"/>
              </a:rPr>
              <a:t>99.2%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10B981"/>
                </a:solidFill>
              </a:rPr>
              <a:t>▲ 母版规范强穿透</a:t>
            </a:r>
          </a:p>
          <a:p>
            <a:r>
              <a:rPr sz="1200">
                <a:solidFill>
                  <a:srgbClr val="475569"/>
                </a:solidFill>
              </a:rPr>
              <a:t>企业专属字体、配色方案与网格母版的 100% 矢量级忠实复刻。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2011680"/>
            <a:ext cx="253060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2286000"/>
            <a:ext cx="225628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475569"/>
                </a:solidFill>
              </a:rPr>
              <a:t>协同修改感知延迟</a:t>
            </a:r>
          </a:p>
          <a:p>
            <a:pPr>
              <a:spcAft>
                <a:spcPts val="600"/>
              </a:spcAft>
            </a:pPr>
            <a:r>
              <a:rPr sz="5200" b="1">
                <a:solidFill>
                  <a:srgbClr val="2563EB"/>
                </a:solidFill>
                <a:latin typeface="DIN Alternate, Arial, sans-serif"/>
              </a:rPr>
              <a:t>&lt;8ms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10B981"/>
                </a:solidFill>
              </a:rPr>
              <a:t>▲ SHA-256 毫秒级</a:t>
            </a:r>
          </a:p>
          <a:p>
            <a:r>
              <a:rPr sz="1200">
                <a:solidFill>
                  <a:srgbClr val="475569"/>
                </a:solidFill>
              </a:rPr>
              <a:t>用户本地手动调整文件后，智能体无感捕获并对齐意图的速度。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26830" y="2011680"/>
            <a:ext cx="253060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3990" y="2286000"/>
            <a:ext cx="225628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475569"/>
                </a:solidFill>
              </a:rPr>
              <a:t>单次综合交付耗时</a:t>
            </a:r>
          </a:p>
          <a:p>
            <a:pPr>
              <a:spcAft>
                <a:spcPts val="600"/>
              </a:spcAft>
            </a:pPr>
            <a:r>
              <a:rPr sz="5200" b="1">
                <a:solidFill>
                  <a:srgbClr val="2563EB"/>
                </a:solidFill>
                <a:latin typeface="DIN Alternate, Arial, sans-serif"/>
              </a:rPr>
              <a:t>45s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10B981"/>
                </a:solidFill>
              </a:rPr>
              <a:t>▲ 缩减 90% 工时</a:t>
            </a:r>
          </a:p>
          <a:p>
            <a:r>
              <a:rPr sz="1200">
                <a:solidFill>
                  <a:srgbClr val="475569"/>
                </a:solidFill>
              </a:rPr>
              <a:t>从原始需求录入到 PPTX 与单文件 HTML 双格式产出的全流程耗时。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16459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PingFang SC, Inter, sans-serif"/>
              </a:rPr>
              <a:t>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PingFang SC, Inter, sans-serif"/>
              </a:rPr>
              <a:t>路径：分阶段稳步推进智能体在核心业务线的全域渗透</a:t>
            </a:r>
          </a:p>
          <a:p>
            <a:r>
              <a:rPr sz="1800">
                <a:solidFill>
                  <a:srgbClr val="475569"/>
                </a:solidFill>
                <a:latin typeface="PingFang SC, Inter, sans-serif"/>
              </a:rPr>
              <a:t>分阶段稳步推进智能体在核心业务线的全场景渗透与规模化应用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560320"/>
            <a:ext cx="1017727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20774" y="2194560"/>
            <a:ext cx="731520" cy="73152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251002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23570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</a:rPr>
              <a:t>2026 Q1 · 试点破局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</a:rPr>
              <a:t>场景原型验证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核心业务场景 POC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模板解析标准库搭建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研发环境私有化联调</a:t>
            </a:r>
          </a:p>
        </p:txBody>
      </p:sp>
      <p:sp>
        <p:nvSpPr>
          <p:cNvPr id="9" name="Oval 8"/>
          <p:cNvSpPr/>
          <p:nvPr/>
        </p:nvSpPr>
        <p:spPr>
          <a:xfrm>
            <a:off x="4359402" y="2194560"/>
            <a:ext cx="731520" cy="73152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0148" y="3200400"/>
            <a:ext cx="251002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7308" y="3337560"/>
            <a:ext cx="223570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</a:rPr>
              <a:t>2026 Q2 · 平台建设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</a:rPr>
              <a:t>中枢能力就绪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多智能体调度集群上线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MCP 核心工具链集成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灰度放量 30% 核心团队</a:t>
            </a:r>
          </a:p>
        </p:txBody>
      </p:sp>
      <p:sp>
        <p:nvSpPr>
          <p:cNvPr id="12" name="Oval 11"/>
          <p:cNvSpPr/>
          <p:nvPr/>
        </p:nvSpPr>
        <p:spPr>
          <a:xfrm>
            <a:off x="7098029" y="2194560"/>
            <a:ext cx="731520" cy="73152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3200400"/>
            <a:ext cx="251002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3337560"/>
            <a:ext cx="223570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</a:rPr>
              <a:t>2026 Q3 · 规模推广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</a:rPr>
              <a:t>业务全域覆盖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全公司级统一规范推广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知识库实时双向同步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效能分析仪表板运行</a:t>
            </a:r>
          </a:p>
        </p:txBody>
      </p:sp>
      <p:sp>
        <p:nvSpPr>
          <p:cNvPr id="15" name="Oval 14"/>
          <p:cNvSpPr/>
          <p:nvPr/>
        </p:nvSpPr>
        <p:spPr>
          <a:xfrm>
            <a:off x="9836658" y="2194560"/>
            <a:ext cx="731520" cy="73152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7404" y="3200400"/>
            <a:ext cx="2510028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4564" y="3337560"/>
            <a:ext cx="223570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563EB"/>
                </a:solidFill>
              </a:rPr>
              <a:t>2026 Q4 · 生态赋能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</a:rPr>
              <a:t>自主进化闭环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智能体自学习演进机制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开放生态开发者支持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10B981"/>
                </a:solidFill>
              </a:rPr>
              <a:t>✓ </a:t>
            </a:r>
            <a:r>
              <a:rPr sz="1200">
                <a:solidFill>
                  <a:srgbClr val="475569"/>
                </a:solidFill>
              </a:rPr>
              <a:t>商业回报全面兑现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1773936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PingFang SC, Inter, sans-serif"/>
              </a:rPr>
              <a:t>CALL_TO_ACTION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F172A"/>
                </a:solidFill>
                <a:latin typeface="PingFang SC, Inter, sans-serif"/>
              </a:rPr>
              <a:t>决议：恪守认知动力学与母版穿透准则，启动 Q1 试点立项</a:t>
            </a:r>
          </a:p>
          <a:p>
            <a:r>
              <a:rPr sz="1800">
                <a:solidFill>
                  <a:srgbClr val="475569"/>
                </a:solidFill>
                <a:latin typeface="PingFang SC, Inter, sans-serif"/>
              </a:rPr>
              <a:t>以信息充分性为牵引，坚守安全合规与人机并肩双向协同原则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591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29968"/>
            <a:ext cx="548640" cy="7680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93392"/>
            <a:ext cx="97200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恪守认知动力学契约准则</a:t>
            </a:r>
          </a:p>
          <a:p>
            <a:r>
              <a:rPr sz="1200">
                <a:solidFill>
                  <a:srgbClr val="475569"/>
                </a:solidFill>
              </a:rPr>
              <a:t>在方案设计前坚决完成深度需求探针与认知差分析，杜绝信息贫血时仓促决策。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54096"/>
            <a:ext cx="1072591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63824"/>
            <a:ext cx="548640" cy="7680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27248"/>
            <a:ext cx="97200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推行母版规范强穿透机制</a:t>
            </a:r>
          </a:p>
          <a:p>
            <a:r>
              <a:rPr sz="1200">
                <a:solidFill>
                  <a:srgbClr val="475569"/>
                </a:solidFill>
              </a:rPr>
              <a:t>以统一 Design Tokens 统领全局，保障全生命周期在跨团队、跨工具间视觉与语义一致性。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87952"/>
            <a:ext cx="1072591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297680"/>
            <a:ext cx="548640" cy="7680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61104"/>
            <a:ext cx="97200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坚持极简无摩擦的双模交付</a:t>
            </a:r>
          </a:p>
          <a:p>
            <a:r>
              <a:rPr sz="1200">
                <a:solidFill>
                  <a:srgbClr val="475569"/>
                </a:solidFill>
              </a:rPr>
              <a:t>PPTX 原生矢量对象保障可二次编辑，单文件 HTML 解决大屏与无依赖跨平台极速分发。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21808"/>
            <a:ext cx="1072591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5431536"/>
            <a:ext cx="548640" cy="7680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94960"/>
            <a:ext cx="972007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</a:rPr>
              <a:t>构建 Always-in-Sync 协同飞轮</a:t>
            </a:r>
          </a:p>
          <a:p>
            <a:r>
              <a:rPr sz="1200">
                <a:solidFill>
                  <a:srgbClr val="475569"/>
                </a:solidFill>
              </a:rPr>
              <a:t>依托毫秒级指纹与语义 AST 感知，随时理解并尊重人类专家的每一步手动调整，保持同频。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