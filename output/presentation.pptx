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371600"/>
            <a:ext cx="99669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371600"/>
            <a:ext cx="164592" cy="4114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828800"/>
            <a:ext cx="89611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 b="1">
                <a:solidFill>
                  <a:srgbClr val="2563EB"/>
                </a:solidFill>
                <a:latin typeface="PingFang SC, Inter, sans-serif"/>
              </a:rPr>
              <a:t>ENTERPRISE STRATEGY &amp; ARCHITECTURE 2026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0F172A"/>
                </a:solidFill>
                <a:latin typeface="PingFang SC, Inter, sans-serif"/>
              </a:rPr>
              <a:t>新一代企业级 Agentic AI 业务与架构全景方案</a:t>
            </a:r>
          </a:p>
          <a:p>
            <a:pPr>
              <a:spcAft>
                <a:spcPts val="2800"/>
              </a:spcAft>
            </a:pPr>
            <a:r>
              <a:rPr sz="2000">
                <a:solidFill>
                  <a:srgbClr val="475569"/>
                </a:solidFill>
                <a:latin typeface="PingFang SC, Inter, sans-serif"/>
              </a:rPr>
              <a:t>从单一认知对话到多智能体自主协同的工业化演进之路</a:t>
            </a:r>
          </a:p>
          <a:p>
            <a:r>
              <a:rPr sz="1300">
                <a:solidFill>
                  <a:srgbClr val="475569"/>
                </a:solidFill>
              </a:rPr>
              <a:t>undoPPT Super Skill 联合出品 · 架构评审专供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传统 AI 方案 vs Agentic AI 核心维度对比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打破单点工具局限，迈向具备长程规划与工具调用能力的自主智能体系统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TRADITIONAL LLM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被动对话型方案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以单轮或短程问答为主，缺乏环境感知与外部工具执行能力，无法闭环复杂业务。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单向文本输出为主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无状态上下文易丢失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人工介入成本高达 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7784" y="1920240"/>
            <a:ext cx="3453384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32376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475569"/>
                </a:solidFill>
              </a:rPr>
              <a:t>WORKFLOW RPA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固定规则编排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严格依赖预设硬编码流程，面对不确定性与非结构化长尾场景极其脆弱。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维护成本高昂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对突发异常容错率为零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无法自主学习与演进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4048" y="1920240"/>
            <a:ext cx="3453384" cy="4297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68640" y="2103120"/>
            <a:ext cx="3124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1">
                <a:solidFill>
                  <a:srgbClr val="2563EB"/>
                </a:solidFill>
              </a:rPr>
              <a:t>AGENTIC SYSTEM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0F172A"/>
                </a:solidFill>
              </a:rPr>
              <a:t>新一代自主协同集群</a:t>
            </a:r>
          </a:p>
          <a:p>
            <a:pPr>
              <a:spcAft>
                <a:spcPts val="1200"/>
              </a:spcAft>
            </a:pPr>
            <a:r>
              <a:rPr sz="1300">
                <a:solidFill>
                  <a:srgbClr val="475569"/>
                </a:solidFill>
              </a:rPr>
              <a:t>基于动态意图推理、多子智能体拓扑与沙箱工具链，实现全自主端到端闭环交付。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动态规划与自我反思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毫秒级双向感知同步</a:t>
            </a:r>
          </a:p>
          <a:p>
            <a:pPr>
              <a:spcAft>
                <a:spcPts val="600"/>
              </a:spcAft>
            </a:pPr>
            <a:r>
              <a:rPr b="1">
                <a:solidFill>
                  <a:srgbClr val="2563EB"/>
                </a:solidFill>
              </a:rPr>
              <a:t>• </a:t>
            </a:r>
            <a:r>
              <a:rPr sz="1200">
                <a:solidFill>
                  <a:srgbClr val="475569"/>
                </a:solidFill>
              </a:rPr>
              <a:t>综合效率提升 400%+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新一代企业级 Agentic AI 核心计算中枢架构（用户优化版）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构建高可用、多租户、安全可信赖的智能体全生命周期运行时中枢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业务交互与场景层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统一多模交互与接入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79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协同工作区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691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企业微信/飞书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OpenAPI 网关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12580" y="2029968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低代码控制台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438144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智能体中枢调度层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意图与长程规划核心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97479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意图研判探针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691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双模逆向引擎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协同感知哨兵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12580" y="3547872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质量规约审计员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56048"/>
            <a:ext cx="10725912" cy="13533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5047488"/>
            <a:ext cx="1828800" cy="117043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563EB"/>
                </a:solidFill>
              </a:rPr>
              <a:t>工具底座与沙箱层</a:t>
            </a:r>
          </a:p>
          <a:p>
            <a:pPr algn="ctr"/>
            <a:r>
              <a:rPr sz="1000">
                <a:solidFill>
                  <a:srgbClr val="475569"/>
                </a:solidFill>
              </a:rPr>
              <a:t>安全受控执行环境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79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MCP 服务器集群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691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Python 代码执行沙箱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向量知识库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12580" y="5065776"/>
            <a:ext cx="2061972" cy="1124711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</a:rPr>
              <a:t>模型网关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KPI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核心效能与业务价值度量指标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全链路数据可观测性与工业级商业成效交付衡量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端到端自动化完成率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94.8%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38.2% 同比提升</a:t>
            </a:r>
          </a:p>
          <a:p>
            <a:r>
              <a:rPr sz="1200">
                <a:solidFill>
                  <a:srgbClr val="475569"/>
                </a:solidFill>
              </a:rPr>
              <a:t>长程复杂任务中自主规划与工具调用的无人工干预达成比率。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329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45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母版风格还原准确率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99.2%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双模逆向穿透</a:t>
            </a:r>
          </a:p>
          <a:p>
            <a:r>
              <a:rPr sz="1200">
                <a:solidFill>
                  <a:srgbClr val="475569"/>
                </a:solidFill>
              </a:rPr>
              <a:t>企业专属字体、配色方案与网格母版的 100% 矢量级忠实复刻。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222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协同修改感知延迟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&lt;8ms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SHA-256 毫秒级</a:t>
            </a:r>
          </a:p>
          <a:p>
            <a:r>
              <a:rPr sz="1200">
                <a:solidFill>
                  <a:srgbClr val="475569"/>
                </a:solidFill>
              </a:rPr>
              <a:t>用户本地手动调整文件后，智能体无感捕获并对齐意图的速度。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26830" y="2011680"/>
            <a:ext cx="2530602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63990" y="2286000"/>
            <a:ext cx="2256282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1">
                <a:solidFill>
                  <a:srgbClr val="475569"/>
                </a:solidFill>
              </a:rPr>
              <a:t>单次综合交付耗时</a:t>
            </a:r>
          </a:p>
          <a:p>
            <a:pPr>
              <a:spcAft>
                <a:spcPts val="600"/>
              </a:spcAft>
            </a:pPr>
            <a:r>
              <a:rPr sz="5200" b="1">
                <a:solidFill>
                  <a:srgbClr val="2563EB"/>
                </a:solidFill>
                <a:latin typeface="DIN Alternate, Arial, sans-serif"/>
              </a:rPr>
              <a:t>45s</a:t>
            </a:r>
          </a:p>
          <a:p>
            <a:pPr>
              <a:spcAft>
                <a:spcPts val="1400"/>
              </a:spcAft>
            </a:pPr>
            <a:r>
              <a:rPr sz="1300" b="1">
                <a:solidFill>
                  <a:srgbClr val="10B981"/>
                </a:solidFill>
              </a:rPr>
              <a:t>▲ 缩减 90% 工时</a:t>
            </a:r>
          </a:p>
          <a:p>
            <a:r>
              <a:rPr sz="1200">
                <a:solidFill>
                  <a:srgbClr val="475569"/>
                </a:solidFill>
              </a:rPr>
              <a:t>从原始需求录入到 PPTX 与单文件 HTML 双格式产出的全流程耗时。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企业落地推行路线与关键里程碑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分阶段稳步推进智能体在核心业务线的全场景渗透与规模化应用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560320"/>
            <a:ext cx="10177272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20774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Q1 · 试点破局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场景原型验证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核心业务场景 POC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模板逆向标准库搭建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研发环境私有化联调</a:t>
            </a:r>
          </a:p>
        </p:txBody>
      </p:sp>
      <p:sp>
        <p:nvSpPr>
          <p:cNvPr id="9" name="Oval 8"/>
          <p:cNvSpPr/>
          <p:nvPr/>
        </p:nvSpPr>
        <p:spPr>
          <a:xfrm>
            <a:off x="4359402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0148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308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Q2 · 平台建设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中枢能力就绪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多智能体调度集群上线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MCP 核心工具链集成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灰度放量 30% 核心团队</a:t>
            </a:r>
          </a:p>
        </p:txBody>
      </p:sp>
      <p:sp>
        <p:nvSpPr>
          <p:cNvPr id="12" name="Oval 11"/>
          <p:cNvSpPr/>
          <p:nvPr/>
        </p:nvSpPr>
        <p:spPr>
          <a:xfrm>
            <a:off x="7098029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Q3 · 规模推广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业务全域覆盖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全公司级统一规范推广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知识库实时双向同步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效能分析仪表板运行</a:t>
            </a:r>
          </a:p>
        </p:txBody>
      </p:sp>
      <p:sp>
        <p:nvSpPr>
          <p:cNvPr id="15" name="Oval 14"/>
          <p:cNvSpPr/>
          <p:nvPr/>
        </p:nvSpPr>
        <p:spPr>
          <a:xfrm>
            <a:off x="9836658" y="2194560"/>
            <a:ext cx="731520" cy="731520"/>
          </a:xfrm>
          <a:prstGeom prst="ellipse">
            <a:avLst/>
          </a:prstGeom>
          <a:solidFill>
            <a:srgbClr val="2563EB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7404" y="3200400"/>
            <a:ext cx="2510028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4564" y="3337560"/>
            <a:ext cx="223570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2563EB"/>
                </a:solidFill>
              </a:rPr>
              <a:t>2026 Q4 · 生态赋能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</a:rPr>
              <a:t>自主进化闭环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智能体自学习演进机制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开放生态开发者支持</a:t>
            </a:r>
          </a:p>
          <a:p>
            <a:pPr>
              <a:spcAft>
                <a:spcPts val="400"/>
              </a:spcAft>
            </a:pPr>
            <a:r>
              <a:rPr b="1">
                <a:solidFill>
                  <a:srgbClr val="10B981"/>
                </a:solidFill>
              </a:rPr>
              <a:t>✓ </a:t>
            </a:r>
            <a:r>
              <a:rPr sz="1200">
                <a:solidFill>
                  <a:srgbClr val="475569"/>
                </a:solidFill>
              </a:rPr>
              <a:t>商业回报全面兑现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1645920" cy="29260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2563EB"/>
                </a:solidFill>
                <a:latin typeface="PingFang SC, Inter, sans-serif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69848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3400" b="1">
                <a:solidFill>
                  <a:srgbClr val="0F172A"/>
                </a:solidFill>
                <a:latin typeface="PingFang SC, Inter, sans-serif"/>
              </a:rPr>
              <a:t>战略实施建议与收官结论</a:t>
            </a:r>
          </a:p>
          <a:p>
            <a:r>
              <a:rPr sz="1800">
                <a:solidFill>
                  <a:srgbClr val="475569"/>
                </a:solidFill>
                <a:latin typeface="PingFang SC, Inter, sans-serif"/>
              </a:rPr>
              <a:t>以信息充分性为牵引，坚守安全合规与人机并肩双向协同原则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29968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93392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恪守信息充分性第一准则</a:t>
            </a:r>
          </a:p>
          <a:p>
            <a:r>
              <a:rPr sz="1200">
                <a:solidFill>
                  <a:srgbClr val="475569"/>
                </a:solidFill>
              </a:rPr>
              <a:t>在方案设计前坚决完成深度需求探针与企业内部素材注水，杜绝信息贫血时仓促决策。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54096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3163824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27248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推行母版规范强穿透机制</a:t>
            </a:r>
          </a:p>
          <a:p>
            <a:r>
              <a:rPr sz="1200">
                <a:solidFill>
                  <a:srgbClr val="475569"/>
                </a:solidFill>
              </a:rPr>
              <a:t>以统一 Design Tokens 统领全局，保障全生命周期在跨团队、跨工具间视觉与语义一致性。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87952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4297680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61104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坚持极简无摩擦的双模交付</a:t>
            </a:r>
          </a:p>
          <a:p>
            <a:r>
              <a:rPr sz="1200">
                <a:solidFill>
                  <a:srgbClr val="475569"/>
                </a:solidFill>
              </a:rPr>
              <a:t>PPTX 原生矢量对象保障可二次编辑，单文件 HTML 解决大屏与无依赖跨平台极速分发。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21808"/>
            <a:ext cx="10725912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5431536"/>
            <a:ext cx="548640" cy="76809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94960"/>
            <a:ext cx="972007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</a:rPr>
              <a:t>构建 Always-in-Sync 协同飞轮</a:t>
            </a:r>
          </a:p>
          <a:p>
            <a:r>
              <a:rPr sz="1200">
                <a:solidFill>
                  <a:srgbClr val="475569"/>
                </a:solidFill>
              </a:rPr>
              <a:t>依托毫秒级指纹与语义 AST 感知，随时理解并尊重人类专家的每一步手动调整，保持同频。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